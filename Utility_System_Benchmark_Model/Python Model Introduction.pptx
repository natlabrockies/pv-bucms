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9" r:id="rId5"/>
    <p:sldId id="262" r:id="rId6"/>
    <p:sldId id="266" r:id="rId7"/>
    <p:sldId id="260" r:id="rId8"/>
    <p:sldId id="261" r:id="rId9"/>
    <p:sldId id="258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78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2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902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363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0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703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2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32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5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21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91498C0-C4E1-4420-95FB-8D618BDDD121}" type="datetimeFigureOut">
              <a:rPr lang="en-US" smtClean="0"/>
              <a:t>3/6/2019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2A601D0-29DE-4C97-AC72-BF28343ADBC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1674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A10A-8770-4526-AD8D-42705C8B16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the Utility System Benchmark Python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46C7FE-1750-4C5A-814C-E0E0FE8A66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60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4A32-B501-41F7-838E-BE0623A7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dirty="0"/>
              <a:t>What is the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BCEFF-648D-48EB-BB97-673E894C5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4915117" cy="4023360"/>
          </a:xfrm>
        </p:spPr>
        <p:txBody>
          <a:bodyPr/>
          <a:lstStyle/>
          <a:p>
            <a:r>
              <a:rPr lang="en-US" dirty="0"/>
              <a:t>Goal was to recreate the tables that Ran uses in the final figure.</a:t>
            </a:r>
          </a:p>
          <a:p>
            <a:pPr lvl="1"/>
            <a:r>
              <a:rPr lang="en-US" dirty="0"/>
              <a:t>A.k.a. the “Final Table”</a:t>
            </a:r>
          </a:p>
          <a:p>
            <a:r>
              <a:rPr lang="en-US" dirty="0"/>
              <a:t>To organize the input data and make it easier to edit the input data</a:t>
            </a:r>
          </a:p>
          <a:p>
            <a:pPr lvl="1"/>
            <a:r>
              <a:rPr lang="en-US" dirty="0"/>
              <a:t>Have separate excel files for each category of inputs</a:t>
            </a:r>
          </a:p>
          <a:p>
            <a:r>
              <a:rPr lang="en-US" dirty="0"/>
              <a:t>To be less cumbersome to run</a:t>
            </a:r>
          </a:p>
          <a:p>
            <a:pPr lvl="1"/>
            <a:r>
              <a:rPr lang="en-US" dirty="0"/>
              <a:t>User only needs to edit inputs and click run, and the model outputs the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7DFF6-0E56-4C57-B3D4-6FE7414DD5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71" t="28130" r="38376" b="28201"/>
          <a:stretch/>
        </p:blipFill>
        <p:spPr>
          <a:xfrm>
            <a:off x="6096000" y="2495791"/>
            <a:ext cx="5762919" cy="289402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600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F49CC-17B5-4527-B2DD-B6FEF32D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Structure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9824B-A73F-4115-BCB6-B6949D494E40}"/>
              </a:ext>
            </a:extLst>
          </p:cNvPr>
          <p:cNvSpPr txBox="1"/>
          <p:nvPr/>
        </p:nvSpPr>
        <p:spPr>
          <a:xfrm>
            <a:off x="1304108" y="2077385"/>
            <a:ext cx="270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68065F-7567-4980-BED7-B5A430EFD7EE}"/>
              </a:ext>
            </a:extLst>
          </p:cNvPr>
          <p:cNvSpPr txBox="1"/>
          <p:nvPr/>
        </p:nvSpPr>
        <p:spPr>
          <a:xfrm>
            <a:off x="5338773" y="2077385"/>
            <a:ext cx="1514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Python Model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E305EAD-CEC0-411B-92F9-8FFF7D7A62F9}"/>
              </a:ext>
            </a:extLst>
          </p:cNvPr>
          <p:cNvSpPr/>
          <p:nvPr/>
        </p:nvSpPr>
        <p:spPr>
          <a:xfrm>
            <a:off x="3958044" y="2699657"/>
            <a:ext cx="4304212" cy="297180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 the Input Data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Intermediate Calculations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Calculations for the Final Table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Export Final Table and Other Results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User should not have to edit unless changing how something is calculated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9F17B-E1DD-45CC-9007-65DC50977D38}"/>
              </a:ext>
            </a:extLst>
          </p:cNvPr>
          <p:cNvSpPr txBox="1"/>
          <p:nvPr/>
        </p:nvSpPr>
        <p:spPr>
          <a:xfrm>
            <a:off x="9914708" y="2077385"/>
            <a:ext cx="2708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3034D1-63D8-4A8B-A7CC-BA72BFA26789}"/>
              </a:ext>
            </a:extLst>
          </p:cNvPr>
          <p:cNvSpPr/>
          <p:nvPr/>
        </p:nvSpPr>
        <p:spPr>
          <a:xfrm>
            <a:off x="9078684" y="2699657"/>
            <a:ext cx="2481943" cy="2971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 XLSX file of various table including the main table as well as associated results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F81E82-C092-4266-91D2-EDC30A33E126}"/>
              </a:ext>
            </a:extLst>
          </p:cNvPr>
          <p:cNvSpPr/>
          <p:nvPr/>
        </p:nvSpPr>
        <p:spPr>
          <a:xfrm>
            <a:off x="631371" y="2699657"/>
            <a:ext cx="2481943" cy="297180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Several CSV’s and XLSX’s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User Edits the data in these spreadsheets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03AB93-A584-4629-8384-FD45FEE1BEA4}"/>
              </a:ext>
            </a:extLst>
          </p:cNvPr>
          <p:cNvSpPr/>
          <p:nvPr/>
        </p:nvSpPr>
        <p:spPr>
          <a:xfrm>
            <a:off x="3276600" y="3799114"/>
            <a:ext cx="631371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8CD215C-E0CC-40EC-A96E-9269DD7CCF7F}"/>
              </a:ext>
            </a:extLst>
          </p:cNvPr>
          <p:cNvSpPr/>
          <p:nvPr/>
        </p:nvSpPr>
        <p:spPr>
          <a:xfrm>
            <a:off x="8399417" y="3799114"/>
            <a:ext cx="631371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29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0360A-31EC-4A05-B4E8-FF53A86A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Input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787D-B200-43D8-A41E-7C1D963A4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885406"/>
            <a:ext cx="9720073" cy="4023360"/>
          </a:xfrm>
        </p:spPr>
        <p:txBody>
          <a:bodyPr/>
          <a:lstStyle/>
          <a:p>
            <a:r>
              <a:rPr lang="en-US" dirty="0"/>
              <a:t>Input data found in the following directory:</a:t>
            </a:r>
          </a:p>
          <a:p>
            <a:pPr lvl="1"/>
            <a:r>
              <a:rPr lang="en-US" dirty="0"/>
              <a:t>“Utility System Benchmark Model\</a:t>
            </a:r>
            <a:r>
              <a:rPr lang="en-US" dirty="0" err="1"/>
              <a:t>input_data</a:t>
            </a:r>
            <a:r>
              <a:rPr lang="en-US" dirty="0"/>
              <a:t>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A5FF9-17AE-48F5-9A2A-DC5D6F4161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844" b="42818"/>
          <a:stretch/>
        </p:blipFill>
        <p:spPr>
          <a:xfrm>
            <a:off x="2523242" y="2669047"/>
            <a:ext cx="7145516" cy="392155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04605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50A7-8AD1-416B-ABEB-3A471456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the Python Model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14ED7-44A6-40AF-8ABB-390D59CAA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132832" cy="4023360"/>
          </a:xfrm>
        </p:spPr>
        <p:txBody>
          <a:bodyPr/>
          <a:lstStyle/>
          <a:p>
            <a:r>
              <a:rPr lang="en-US" dirty="0"/>
              <a:t>Automatic update of Labor Database</a:t>
            </a:r>
          </a:p>
          <a:p>
            <a:pPr lvl="1"/>
            <a:r>
              <a:rPr lang="en-US" dirty="0"/>
              <a:t>Pulls latest average labor costs from BLS</a:t>
            </a:r>
          </a:p>
          <a:p>
            <a:r>
              <a:rPr lang="en-US" dirty="0"/>
              <a:t>Creates the “Total Installed Cost” table with dozens of functions</a:t>
            </a:r>
          </a:p>
          <a:p>
            <a:pPr lvl="1"/>
            <a:r>
              <a:rPr lang="en-US" dirty="0"/>
              <a:t>Each row of table has different calculations</a:t>
            </a:r>
          </a:p>
          <a:p>
            <a:r>
              <a:rPr lang="en-US" dirty="0"/>
              <a:t>Uses the Total Installed Cost values to calculate the Final Table</a:t>
            </a:r>
          </a:p>
          <a:p>
            <a:pPr lvl="1"/>
            <a:r>
              <a:rPr lang="en-US" dirty="0"/>
              <a:t>Does all the intermediate and final calculations necessary to populate this table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F9485-F1C9-4EA6-B1AF-DCC88698A2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54" r="54304" b="2690"/>
          <a:stretch/>
        </p:blipFill>
        <p:spPr>
          <a:xfrm>
            <a:off x="6551630" y="1610755"/>
            <a:ext cx="4739325" cy="499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38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8244-0F42-4729-90DE-3B58C435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installed cost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B95A3-910D-4A3D-A288-731891668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5A1A4-BEF4-4179-BD9A-6A0C12EFC0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61" t="25143" r="10077" b="4873"/>
          <a:stretch/>
        </p:blipFill>
        <p:spPr>
          <a:xfrm>
            <a:off x="576873" y="1893845"/>
            <a:ext cx="10614581" cy="463798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5881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E8935-E97D-46D8-BC04-ED7041CB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86F66B-4DF5-4F41-9202-537F6CC55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Input data found in the following directory:</a:t>
            </a:r>
          </a:p>
          <a:p>
            <a:pPr lvl="1"/>
            <a:r>
              <a:rPr lang="en-US" sz="2000" dirty="0"/>
              <a:t>“Utility System Benchmark Model\results”</a:t>
            </a:r>
          </a:p>
          <a:p>
            <a:r>
              <a:rPr lang="en-US" sz="2400" dirty="0"/>
              <a:t>Outputs results of specific location and project size</a:t>
            </a:r>
          </a:p>
          <a:p>
            <a:pPr lvl="1"/>
            <a:r>
              <a:rPr lang="en-US" sz="1600" dirty="0"/>
              <a:t>Location and project size are specified in </a:t>
            </a:r>
            <a:r>
              <a:rPr lang="en-US" sz="1600" dirty="0" err="1"/>
              <a:t>input_data</a:t>
            </a:r>
            <a:endParaRPr lang="en-US" sz="1600" dirty="0"/>
          </a:p>
          <a:p>
            <a:r>
              <a:rPr lang="en-US" sz="2400" dirty="0"/>
              <a:t>Outputs all state results for Fixed-Tilt and One-Axis Tracker and the four project sizes.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5C841-90CC-4A95-8C24-7EB066ECE4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160" r="51830" b="32183"/>
          <a:stretch/>
        </p:blipFill>
        <p:spPr>
          <a:xfrm>
            <a:off x="6096000" y="935889"/>
            <a:ext cx="5872899" cy="30919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504398-4F1C-4BFF-BB02-59F7FBDEEA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444" r="77964" b="46551"/>
          <a:stretch/>
        </p:blipFill>
        <p:spPr>
          <a:xfrm>
            <a:off x="6096000" y="4223208"/>
            <a:ext cx="2686639" cy="21210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091497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0A91-B231-41BF-897A-A21D642D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Level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EBD68-68B1-464C-89EF-2ED9D93D3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3" t="14384" r="2056" b="1461"/>
          <a:stretch/>
        </p:blipFill>
        <p:spPr>
          <a:xfrm>
            <a:off x="920951" y="1868932"/>
            <a:ext cx="9926426" cy="46672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86442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76BA-56EE-4E8E-A228-A68190842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34721-36CF-4948-8B22-AD8E7AC1E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737"/>
            <a:ext cx="10515600" cy="4351338"/>
          </a:xfrm>
        </p:spPr>
        <p:txBody>
          <a:bodyPr/>
          <a:lstStyle/>
          <a:p>
            <a:r>
              <a:rPr lang="en-US" dirty="0"/>
              <a:t>Installing Python</a:t>
            </a:r>
          </a:p>
          <a:p>
            <a:pPr lvl="1"/>
            <a:r>
              <a:rPr lang="en-US" dirty="0"/>
              <a:t>Installing the Anaconda Navigator</a:t>
            </a:r>
          </a:p>
          <a:p>
            <a:r>
              <a:rPr lang="en-US" dirty="0"/>
              <a:t>Open Anaconda Prompt</a:t>
            </a:r>
          </a:p>
          <a:p>
            <a:pPr lvl="1"/>
            <a:r>
              <a:rPr lang="en-US" dirty="0"/>
              <a:t>Click the start button and search “Anaconda Prompt” in the search bar, the app should appear</a:t>
            </a:r>
          </a:p>
          <a:p>
            <a:r>
              <a:rPr lang="en-US" dirty="0"/>
              <a:t>Navigate to the file where you saved the model</a:t>
            </a:r>
          </a:p>
          <a:p>
            <a:pPr lvl="1"/>
            <a:r>
              <a:rPr lang="en-US" dirty="0"/>
              <a:t>Type “cd” and then the path of where Utility System Benchmark Model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E9F98-A294-48D7-B189-1A7AEF0B02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2100" b="72819"/>
          <a:stretch/>
        </p:blipFill>
        <p:spPr>
          <a:xfrm>
            <a:off x="2252077" y="4375489"/>
            <a:ext cx="726417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3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AFE3-AE98-4A37-A324-08A30E1C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EAF70-129B-404D-A5F5-125F1389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089"/>
            <a:ext cx="10515600" cy="4882696"/>
          </a:xfrm>
        </p:spPr>
        <p:txBody>
          <a:bodyPr>
            <a:normAutofit/>
          </a:bodyPr>
          <a:lstStyle/>
          <a:p>
            <a:r>
              <a:rPr lang="en-US" dirty="0"/>
              <a:t>Install the “virtual environment” file</a:t>
            </a:r>
          </a:p>
          <a:p>
            <a:pPr lvl="1"/>
            <a:r>
              <a:rPr lang="en-US" dirty="0"/>
              <a:t>Type the following into command prompt:</a:t>
            </a:r>
          </a:p>
          <a:p>
            <a:pPr lvl="2"/>
            <a:r>
              <a:rPr lang="en-US" dirty="0"/>
              <a:t>“conda env create –f solar_python_model.yml” and hit enter</a:t>
            </a:r>
          </a:p>
          <a:p>
            <a:pPr lvl="2"/>
            <a:r>
              <a:rPr lang="en-US" dirty="0"/>
              <a:t>This will install all the packages that python needs to run the model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  <a:p>
            <a:r>
              <a:rPr lang="en-US" dirty="0"/>
              <a:t>Activate the virtual environment</a:t>
            </a:r>
          </a:p>
          <a:p>
            <a:pPr lvl="1"/>
            <a:r>
              <a:rPr lang="en-US" dirty="0"/>
              <a:t>Type “conda activate </a:t>
            </a:r>
            <a:r>
              <a:rPr lang="en-US" dirty="0" err="1"/>
              <a:t>solar_python_model</a:t>
            </a:r>
            <a:r>
              <a:rPr lang="en-US" dirty="0"/>
              <a:t>” and hit enter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9B833D-37C2-4B86-8BFE-447CDC848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272" r="8661" b="21719"/>
          <a:stretch/>
        </p:blipFill>
        <p:spPr>
          <a:xfrm>
            <a:off x="1113064" y="3134242"/>
            <a:ext cx="8643257" cy="207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88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60072-E34C-471E-9D12-842921F1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Execute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16BAA-7948-4DF3-8327-5F08772AD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024011"/>
          </a:xfrm>
        </p:spPr>
        <p:txBody>
          <a:bodyPr>
            <a:normAutofit/>
          </a:bodyPr>
          <a:lstStyle/>
          <a:p>
            <a:r>
              <a:rPr lang="en-US" dirty="0"/>
              <a:t>Navigate to the “python” folder in “Utility System Benchmark Model”</a:t>
            </a:r>
          </a:p>
          <a:p>
            <a:pPr lvl="1"/>
            <a:r>
              <a:rPr lang="en-US" dirty="0"/>
              <a:t>Type “cd python” and hit enter</a:t>
            </a:r>
          </a:p>
          <a:p>
            <a:pPr lvl="1"/>
            <a:endParaRPr lang="en-US" dirty="0"/>
          </a:p>
          <a:p>
            <a:r>
              <a:rPr lang="en-US" dirty="0"/>
              <a:t>Run the model</a:t>
            </a:r>
          </a:p>
          <a:p>
            <a:pPr lvl="1"/>
            <a:r>
              <a:rPr lang="en-US" dirty="0"/>
              <a:t>Type “python main.py” and hit enter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“done” message will appear when it is finished as well how many seconds it took to run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9C29C-32DF-43B5-896E-0091CBDEFC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6261" r="12910"/>
          <a:stretch/>
        </p:blipFill>
        <p:spPr>
          <a:xfrm>
            <a:off x="1093527" y="3912242"/>
            <a:ext cx="10004946" cy="1887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9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9013</TotalTime>
  <Words>463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Intro to the Utility System Benchmark Python Model</vt:lpstr>
      <vt:lpstr>What is the Goal</vt:lpstr>
      <vt:lpstr>Model Structure</vt:lpstr>
      <vt:lpstr>Where is the Input Data</vt:lpstr>
      <vt:lpstr>What does the Python Model do?</vt:lpstr>
      <vt:lpstr>Total installed cost table</vt:lpstr>
      <vt:lpstr>What does it Output</vt:lpstr>
      <vt:lpstr>State Level Results</vt:lpstr>
      <vt:lpstr>How to Execute</vt:lpstr>
      <vt:lpstr>How to Execute</vt:lpstr>
      <vt:lpstr>How to Execute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Ramdas, Ashwin</dc:creator>
  <cp:lastModifiedBy>Ramdas, Ashwin</cp:lastModifiedBy>
  <cp:revision>22</cp:revision>
  <dcterms:created xsi:type="dcterms:W3CDTF">2019-02-27T20:51:33Z</dcterms:created>
  <dcterms:modified xsi:type="dcterms:W3CDTF">2019-03-06T19:58:14Z</dcterms:modified>
</cp:coreProperties>
</file>